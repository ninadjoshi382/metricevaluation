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Urbanist Medium"/>
      <p:regular r:id="rId23"/>
      <p:bold r:id="rId24"/>
      <p:italic r:id="rId25"/>
      <p:boldItalic r:id="rId26"/>
    </p:embeddedFont>
    <p:embeddedFont>
      <p:font typeface="Urbanist SemiBold"/>
      <p:regular r:id="rId27"/>
      <p:bold r:id="rId28"/>
      <p:italic r:id="rId29"/>
      <p:boldItalic r:id="rId30"/>
    </p:embeddedFont>
    <p:embeddedFont>
      <p:font typeface="Urbanist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86DF76-634E-4074-8C73-C192E3C35F77}">
  <a:tblStyle styleId="{1986DF76-634E-4074-8C73-C192E3C35F7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UrbanistMedium-bold.fntdata"/><Relationship Id="rId23" Type="http://schemas.openxmlformats.org/officeDocument/2006/relationships/font" Target="fonts/Urbanis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Medium-boldItalic.fntdata"/><Relationship Id="rId25" Type="http://schemas.openxmlformats.org/officeDocument/2006/relationships/font" Target="fonts/UrbanistMedium-italic.fntdata"/><Relationship Id="rId28" Type="http://schemas.openxmlformats.org/officeDocument/2006/relationships/font" Target="fonts/UrbanistSemiBold-bold.fntdata"/><Relationship Id="rId27" Type="http://schemas.openxmlformats.org/officeDocument/2006/relationships/font" Target="fonts/Urbanist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regular.fntdata"/><Relationship Id="rId30" Type="http://schemas.openxmlformats.org/officeDocument/2006/relationships/font" Target="fonts/UrbanistSemiBold-boldItalic.fntdata"/><Relationship Id="rId11" Type="http://schemas.openxmlformats.org/officeDocument/2006/relationships/slide" Target="slides/slide5.xml"/><Relationship Id="rId33" Type="http://schemas.openxmlformats.org/officeDocument/2006/relationships/font" Target="fonts/Urbanist-italic.fntdata"/><Relationship Id="rId10" Type="http://schemas.openxmlformats.org/officeDocument/2006/relationships/slide" Target="slides/slide4.xml"/><Relationship Id="rId32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Urbanist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c96e62cd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c96e62cd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c96e62cde5_0_9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c96e62cde5_0_9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96e62cde5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c96e62cde5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c96e62cde5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7" name="Google Shape;467;g3c96e62cde5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c96e62cde5_0_10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c96e62cde5_0_10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Latent Distribution Conditioning + Energy Distance + Shapley Values to discuss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96e62cde5_0_10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c96e62cde5_0_10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Latent Distribution Conditioning + Energy Distance + Shapley Values to discuss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96e62cde5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3c96e62cde5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96e62cde5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96e62cde5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c96e62cde5_0_1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c96e62cde5_0_1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c96e62cde5_0_10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c96e62cde5_0_10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c96e62cde5_0_10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3c96e62cde5_0_10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c96e62cde5_0_1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c96e62cde5_0_1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c96e62cde5_0_10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c96e62cde5_0_10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c96e62cde5_0_10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c96e62cde5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c96e62cde5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c96e62cde5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c96e62cde5_0_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c96e62cde5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 amt="50000"/>
          </a:blip>
          <a:srcRect b="8145" l="3133" r="7834" t="16785"/>
          <a:stretch/>
        </p:blipFill>
        <p:spPr>
          <a:xfrm flipH="1" rot="10800000">
            <a:off x="0" y="-3474"/>
            <a:ext cx="9161550" cy="5154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flipH="1" rot="10800000">
            <a:off x="0" y="4676700"/>
            <a:ext cx="9149700" cy="466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Urbanist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" name="Google Shape;16;p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" name="Google Shape;18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9" name="Google Shape;19;p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" name="Google Shape;20;p2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" name="Google Shape;21;p2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7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" name="Google Shape;23;p2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 b="1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3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" name="Google Shape;30;p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32" name="Google Shape;32;p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p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" name="Google Shape;39;p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41" name="Google Shape;41;p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254625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3275850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6215463" y="1638300"/>
            <a:ext cx="1128900" cy="118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800"/>
              <a:buFont typeface="Urbanist"/>
              <a:buNone/>
              <a:defRPr sz="4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body"/>
          </p:nvPr>
        </p:nvSpPr>
        <p:spPr>
          <a:xfrm>
            <a:off x="288575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6" name="Google Shape;46;p4"/>
          <p:cNvSpPr txBox="1"/>
          <p:nvPr>
            <p:ph idx="9" type="body"/>
          </p:nvPr>
        </p:nvSpPr>
        <p:spPr>
          <a:xfrm>
            <a:off x="6121413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3" type="body"/>
          </p:nvPr>
        </p:nvSpPr>
        <p:spPr>
          <a:xfrm>
            <a:off x="3192450" y="3386400"/>
            <a:ext cx="2665200" cy="11883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3" type="title"/>
          </p:nvPr>
        </p:nvSpPr>
        <p:spPr>
          <a:xfrm>
            <a:off x="4591800" y="738425"/>
            <a:ext cx="4290000" cy="2051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" type="body"/>
          </p:nvPr>
        </p:nvSpPr>
        <p:spPr>
          <a:xfrm>
            <a:off x="4618950" y="2205375"/>
            <a:ext cx="4290000" cy="16296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4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5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6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6" name="Google Shape;56;p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cxnSp>
        <p:nvCxnSpPr>
          <p:cNvPr id="58" name="Google Shape;58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4" name="Google Shape;64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6"/>
          <p:cNvSpPr txBox="1"/>
          <p:nvPr>
            <p:ph idx="1" type="body"/>
          </p:nvPr>
        </p:nvSpPr>
        <p:spPr>
          <a:xfrm>
            <a:off x="233850" y="3127075"/>
            <a:ext cx="2920800" cy="131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68" name="Google Shape;68;p6"/>
          <p:cNvSpPr txBox="1"/>
          <p:nvPr>
            <p:ph idx="5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9" name="Google Shape;69;p6"/>
          <p:cNvSpPr txBox="1"/>
          <p:nvPr>
            <p:ph idx="6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7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1" name="Google Shape;71;p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3" name="Google Shape;73;p6"/>
          <p:cNvSpPr txBox="1"/>
          <p:nvPr>
            <p:ph idx="8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74" name="Google Shape;74;p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7"/>
          <p:cNvPicPr preferRelativeResize="0"/>
          <p:nvPr/>
        </p:nvPicPr>
        <p:blipFill rotWithShape="1">
          <a:blip r:embed="rId2">
            <a:alphaModFix amt="60000"/>
          </a:blip>
          <a:srcRect b="14588" l="0" r="15469" t="0"/>
          <a:stretch/>
        </p:blipFill>
        <p:spPr>
          <a:xfrm>
            <a:off x="25" y="1172500"/>
            <a:ext cx="5181349" cy="349325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8" name="Google Shape;78;p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9" name="Google Shape;79;p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80" name="Google Shape;80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81" name="Google Shape;81;p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7"/>
          <p:cNvSpPr txBox="1"/>
          <p:nvPr>
            <p:ph idx="4" type="subTitle"/>
          </p:nvPr>
        </p:nvSpPr>
        <p:spPr>
          <a:xfrm>
            <a:off x="4744575" y="38715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3" name="Google Shape;83;p7"/>
          <p:cNvSpPr txBox="1"/>
          <p:nvPr>
            <p:ph idx="5" type="subTitle"/>
          </p:nvPr>
        </p:nvSpPr>
        <p:spPr>
          <a:xfrm>
            <a:off x="4744575" y="1066588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4" name="Google Shape;84;p7"/>
          <p:cNvSpPr txBox="1"/>
          <p:nvPr>
            <p:ph idx="6" type="subTitle"/>
          </p:nvPr>
        </p:nvSpPr>
        <p:spPr>
          <a:xfrm>
            <a:off x="4744575" y="1742700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5" name="Google Shape;85;p7"/>
          <p:cNvSpPr txBox="1"/>
          <p:nvPr>
            <p:ph idx="7" type="subTitle"/>
          </p:nvPr>
        </p:nvSpPr>
        <p:spPr>
          <a:xfrm>
            <a:off x="4744575" y="2420513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6" name="Google Shape;86;p7"/>
          <p:cNvSpPr txBox="1"/>
          <p:nvPr>
            <p:ph idx="8" type="subTitle"/>
          </p:nvPr>
        </p:nvSpPr>
        <p:spPr>
          <a:xfrm>
            <a:off x="4744575" y="30982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7" name="Google Shape;87;p7"/>
          <p:cNvSpPr txBox="1"/>
          <p:nvPr>
            <p:ph idx="9" type="subTitle"/>
          </p:nvPr>
        </p:nvSpPr>
        <p:spPr>
          <a:xfrm>
            <a:off x="4744575" y="3776075"/>
            <a:ext cx="322500" cy="2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8" name="Google Shape;88;p7"/>
          <p:cNvSpPr txBox="1"/>
          <p:nvPr>
            <p:ph idx="13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7"/>
          <p:cNvSpPr txBox="1"/>
          <p:nvPr>
            <p:ph idx="14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7"/>
          <p:cNvSpPr txBox="1"/>
          <p:nvPr>
            <p:ph idx="15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7"/>
          <p:cNvSpPr txBox="1"/>
          <p:nvPr>
            <p:ph idx="16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7"/>
          <p:cNvSpPr txBox="1"/>
          <p:nvPr>
            <p:ph idx="17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7"/>
          <p:cNvSpPr txBox="1"/>
          <p:nvPr>
            <p:ph idx="18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4" name="Google Shape;94;p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98" name="Google Shape;98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9" name="Google Shape;99;p8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0" name="Google Shape;100;p8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1" name="Google Shape;101;p8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2" name="Google Shape;102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" name="Google Shape;103;p8"/>
          <p:cNvSpPr txBox="1"/>
          <p:nvPr>
            <p:ph idx="6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4" name="Google Shape;104;p8"/>
          <p:cNvSpPr/>
          <p:nvPr>
            <p:ph idx="7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5" name="Google Shape;105;p8"/>
          <p:cNvSpPr txBox="1"/>
          <p:nvPr>
            <p:ph idx="8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6" name="Google Shape;106;p8"/>
          <p:cNvSpPr txBox="1"/>
          <p:nvPr>
            <p:ph idx="9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7" name="Google Shape;107;p8"/>
          <p:cNvSpPr/>
          <p:nvPr>
            <p:ph idx="13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08" name="Google Shape;108;p8"/>
          <p:cNvSpPr txBox="1"/>
          <p:nvPr>
            <p:ph idx="14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09" name="Google Shape;109;p8"/>
          <p:cNvSpPr txBox="1"/>
          <p:nvPr>
            <p:ph idx="15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0" name="Google Shape;110;p8"/>
          <p:cNvSpPr/>
          <p:nvPr>
            <p:ph idx="16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1" name="Google Shape;111;p8"/>
          <p:cNvSpPr txBox="1"/>
          <p:nvPr>
            <p:ph idx="17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2" name="Google Shape;112;p8"/>
          <p:cNvSpPr txBox="1"/>
          <p:nvPr>
            <p:ph idx="18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3" name="Google Shape;113;p8"/>
          <p:cNvSpPr/>
          <p:nvPr>
            <p:ph idx="19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4" name="Google Shape;114;p8"/>
          <p:cNvSpPr txBox="1"/>
          <p:nvPr>
            <p:ph idx="20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5" name="Google Shape;115;p8"/>
          <p:cNvSpPr txBox="1"/>
          <p:nvPr>
            <p:ph idx="21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6" name="Google Shape;116;p8"/>
          <p:cNvSpPr/>
          <p:nvPr>
            <p:ph idx="22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117" name="Google Shape;117;p8"/>
          <p:cNvSpPr txBox="1"/>
          <p:nvPr>
            <p:ph idx="23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118" name="Google Shape;118;p8"/>
          <p:cNvSpPr txBox="1"/>
          <p:nvPr>
            <p:ph idx="24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cxnSp>
        <p:nvCxnSpPr>
          <p:cNvPr id="119" name="Google Shape;119;p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" name="Google Shape;120;p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125" name="Google Shape;125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6" name="Google Shape;126;p9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9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8" name="Google Shape;128;p9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9" name="Google Shape;129;p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4" name="Google Shape;134;p10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5" name="Google Shape;135;p10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grpSp>
        <p:nvGrpSpPr>
          <p:cNvPr id="136" name="Google Shape;136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38" name="Google Shape;138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39" name="Google Shape;139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" name="Google Shape;140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41" name="Google Shape;141;p10"/>
          <p:cNvSpPr/>
          <p:nvPr>
            <p:ph idx="4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2" name="Google Shape;142;p10"/>
          <p:cNvSpPr txBox="1"/>
          <p:nvPr>
            <p:ph idx="5" type="subTitle"/>
          </p:nvPr>
        </p:nvSpPr>
        <p:spPr>
          <a:xfrm>
            <a:off x="426700" y="2708802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3" name="Google Shape;143;p10"/>
          <p:cNvSpPr txBox="1"/>
          <p:nvPr>
            <p:ph idx="6" type="subTitle"/>
          </p:nvPr>
        </p:nvSpPr>
        <p:spPr>
          <a:xfrm>
            <a:off x="4267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4" name="Google Shape;144;p10"/>
          <p:cNvSpPr txBox="1"/>
          <p:nvPr>
            <p:ph idx="7" type="body"/>
          </p:nvPr>
        </p:nvSpPr>
        <p:spPr>
          <a:xfrm>
            <a:off x="4267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5" name="Google Shape;145;p10"/>
          <p:cNvSpPr/>
          <p:nvPr>
            <p:ph idx="8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46" name="Google Shape;146;p10"/>
          <p:cNvSpPr txBox="1"/>
          <p:nvPr>
            <p:ph idx="9" type="subTitle"/>
          </p:nvPr>
        </p:nvSpPr>
        <p:spPr>
          <a:xfrm>
            <a:off x="26218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7" name="Google Shape;147;p10"/>
          <p:cNvSpPr txBox="1"/>
          <p:nvPr>
            <p:ph idx="13" type="subTitle"/>
          </p:nvPr>
        </p:nvSpPr>
        <p:spPr>
          <a:xfrm>
            <a:off x="2621800" y="2936075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48" name="Google Shape;148;p10"/>
          <p:cNvSpPr txBox="1"/>
          <p:nvPr>
            <p:ph idx="14" type="body"/>
          </p:nvPr>
        </p:nvSpPr>
        <p:spPr>
          <a:xfrm>
            <a:off x="2621800" y="3251425"/>
            <a:ext cx="17058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49" name="Google Shape;149;p10"/>
          <p:cNvSpPr/>
          <p:nvPr>
            <p:ph idx="15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0" name="Google Shape;150;p10"/>
          <p:cNvSpPr txBox="1"/>
          <p:nvPr>
            <p:ph idx="16" type="subTitle"/>
          </p:nvPr>
        </p:nvSpPr>
        <p:spPr>
          <a:xfrm>
            <a:off x="4816900" y="2708808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1" name="Google Shape;151;p10"/>
          <p:cNvSpPr txBox="1"/>
          <p:nvPr>
            <p:ph idx="17" type="subTitle"/>
          </p:nvPr>
        </p:nvSpPr>
        <p:spPr>
          <a:xfrm>
            <a:off x="48169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2" name="Google Shape;152;p10"/>
          <p:cNvSpPr txBox="1"/>
          <p:nvPr>
            <p:ph idx="18" type="body"/>
          </p:nvPr>
        </p:nvSpPr>
        <p:spPr>
          <a:xfrm>
            <a:off x="4817025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153" name="Google Shape;153;p10"/>
          <p:cNvSpPr/>
          <p:nvPr>
            <p:ph idx="19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 txBox="1"/>
          <p:nvPr>
            <p:ph idx="20" type="subTitle"/>
          </p:nvPr>
        </p:nvSpPr>
        <p:spPr>
          <a:xfrm>
            <a:off x="7012000" y="2708807"/>
            <a:ext cx="1761900" cy="228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5" name="Google Shape;155;p10"/>
          <p:cNvSpPr txBox="1"/>
          <p:nvPr>
            <p:ph idx="21" type="subTitle"/>
          </p:nvPr>
        </p:nvSpPr>
        <p:spPr>
          <a:xfrm>
            <a:off x="7012000" y="2936076"/>
            <a:ext cx="1761900" cy="16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idx="22" type="body"/>
          </p:nvPr>
        </p:nvSpPr>
        <p:spPr>
          <a:xfrm>
            <a:off x="7012000" y="3251425"/>
            <a:ext cx="1761900" cy="965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cxnSp>
        <p:nvCxnSpPr>
          <p:cNvPr id="157" name="Google Shape;157;p10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10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0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val black shapes against a shadowy background. " id="161" name="Google Shape;161;p11"/>
          <p:cNvPicPr preferRelativeResize="0"/>
          <p:nvPr/>
        </p:nvPicPr>
        <p:blipFill rotWithShape="1">
          <a:blip r:embed="rId2">
            <a:alphaModFix/>
          </a:blip>
          <a:srcRect b="42245" l="17240" r="25038" t="34"/>
          <a:stretch/>
        </p:blipFill>
        <p:spPr>
          <a:xfrm>
            <a:off x="0" y="-289"/>
            <a:ext cx="9144000" cy="51441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2" name="Google Shape;162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3" name="Google Shape;163;p1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4" name="Google Shape;164;p11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5" name="Google Shape;165;p11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66" name="Google Shape;166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</a:defRPr>
            </a:lvl9pPr>
          </a:lstStyle>
          <a:p/>
        </p:txBody>
      </p:sp>
      <p:cxnSp>
        <p:nvCxnSpPr>
          <p:cNvPr id="167" name="Google Shape;167;p11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" name="Google Shape;170;p11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17500" lvl="2" marL="13716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3pPr>
            <a:lvl4pPr indent="-317500" lvl="3" marL="18288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4pPr>
            <a:lvl5pPr indent="-317500" lvl="4" marL="22860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5pPr>
            <a:lvl6pPr indent="-317500" lvl="5" marL="2743200">
              <a:spcBef>
                <a:spcPts val="800"/>
              </a:spcBef>
              <a:spcAft>
                <a:spcPts val="0"/>
              </a:spcAft>
              <a:buSzPts val="1400"/>
              <a:buChar char="■"/>
              <a:defRPr sz="1400"/>
            </a:lvl6pPr>
            <a:lvl7pPr indent="-317500" lvl="6" marL="3200400">
              <a:spcBef>
                <a:spcPts val="800"/>
              </a:spcBef>
              <a:spcAft>
                <a:spcPts val="0"/>
              </a:spcAft>
              <a:buSzPts val="1400"/>
              <a:buChar char="●"/>
              <a:defRPr sz="1400"/>
            </a:lvl7pPr>
            <a:lvl8pPr indent="-317500" lvl="7" marL="3657600">
              <a:spcBef>
                <a:spcPts val="800"/>
              </a:spcBef>
              <a:spcAft>
                <a:spcPts val="0"/>
              </a:spcAft>
              <a:buSzPts val="1400"/>
              <a:buChar char="○"/>
              <a:defRPr sz="1400"/>
            </a:lvl8pPr>
            <a:lvl9pPr indent="-317500" lvl="8" marL="4114800">
              <a:spcBef>
                <a:spcPts val="800"/>
              </a:spcBef>
              <a:spcAft>
                <a:spcPts val="800"/>
              </a:spcAft>
              <a:buSzPts val="1400"/>
              <a:buChar char="■"/>
              <a:defRPr sz="1400"/>
            </a:lvl9pPr>
          </a:lstStyle>
          <a:p/>
        </p:txBody>
      </p:sp>
      <p:sp>
        <p:nvSpPr>
          <p:cNvPr id="174" name="Google Shape;174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75" name="Google Shape;175;p1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6" name="Google Shape;176;p1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7" name="Google Shape;177;p1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cxnSp>
        <p:nvCxnSpPr>
          <p:cNvPr id="180" name="Google Shape;180;p1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3386700" y="489887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3"/>
          <p:cNvSpPr txBox="1"/>
          <p:nvPr>
            <p:ph idx="1" type="subTitle"/>
          </p:nvPr>
        </p:nvSpPr>
        <p:spPr>
          <a:xfrm>
            <a:off x="338670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3"/>
          <p:cNvSpPr txBox="1"/>
          <p:nvPr>
            <p:ph idx="2" type="subTitle"/>
          </p:nvPr>
        </p:nvSpPr>
        <p:spPr>
          <a:xfrm>
            <a:off x="338670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7" name="Google Shape;187;p13"/>
          <p:cNvSpPr txBox="1"/>
          <p:nvPr>
            <p:ph idx="3" type="title"/>
          </p:nvPr>
        </p:nvSpPr>
        <p:spPr>
          <a:xfrm>
            <a:off x="6307650" y="482616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8" name="Google Shape;188;p13"/>
          <p:cNvSpPr txBox="1"/>
          <p:nvPr>
            <p:ph idx="4" type="subTitle"/>
          </p:nvPr>
        </p:nvSpPr>
        <p:spPr>
          <a:xfrm>
            <a:off x="6307650" y="690369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9" name="Google Shape;189;p13"/>
          <p:cNvSpPr txBox="1"/>
          <p:nvPr>
            <p:ph idx="5" type="subTitle"/>
          </p:nvPr>
        </p:nvSpPr>
        <p:spPr>
          <a:xfrm>
            <a:off x="6307650" y="1070875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2" name="Google Shape;192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3" name="Google Shape;193;p13"/>
          <p:cNvSpPr txBox="1"/>
          <p:nvPr>
            <p:ph idx="9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4" name="Google Shape;194;p13"/>
          <p:cNvSpPr txBox="1"/>
          <p:nvPr>
            <p:ph idx="1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5" name="Google Shape;195;p13"/>
          <p:cNvSpPr txBox="1"/>
          <p:nvPr>
            <p:ph idx="1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6" name="Google Shape;196;p13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7" name="Google Shape;197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98" name="Google Shape;198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9" name="Google Shape;199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0" name="Google Shape;200;p13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04" name="Google Shape;204;p14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5" name="Google Shape;205;p14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6" name="Google Shape;206;p14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07" name="Google Shape;207;p14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8" name="Google Shape;208;p14"/>
          <p:cNvSpPr txBox="1"/>
          <p:nvPr>
            <p:ph idx="4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9" name="Google Shape;209;p14"/>
          <p:cNvSpPr txBox="1"/>
          <p:nvPr>
            <p:ph idx="5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0" name="Google Shape;210;p14"/>
          <p:cNvSpPr txBox="1"/>
          <p:nvPr>
            <p:ph idx="6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1" name="Google Shape;211;p14"/>
          <p:cNvSpPr txBox="1"/>
          <p:nvPr>
            <p:ph idx="7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2" name="Google Shape;212;p14"/>
          <p:cNvSpPr txBox="1"/>
          <p:nvPr>
            <p:ph idx="8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3" name="Google Shape;213;p14"/>
          <p:cNvSpPr txBox="1"/>
          <p:nvPr>
            <p:ph idx="9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4" name="Google Shape;214;p14"/>
          <p:cNvSpPr txBox="1"/>
          <p:nvPr>
            <p:ph idx="13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5" name="Google Shape;215;p14"/>
          <p:cNvSpPr txBox="1"/>
          <p:nvPr>
            <p:ph idx="14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4"/>
          <p:cNvSpPr txBox="1"/>
          <p:nvPr>
            <p:ph idx="15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7" name="Google Shape;217;p14"/>
          <p:cNvSpPr txBox="1"/>
          <p:nvPr>
            <p:ph idx="16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18" name="Google Shape;218;p14"/>
          <p:cNvSpPr txBox="1"/>
          <p:nvPr>
            <p:ph idx="17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9" name="Google Shape;219;p14"/>
          <p:cNvSpPr txBox="1"/>
          <p:nvPr>
            <p:ph idx="18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4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5"/>
          <p:cNvPicPr preferRelativeResize="0"/>
          <p:nvPr/>
        </p:nvPicPr>
        <p:blipFill rotWithShape="1">
          <a:blip r:embed="rId2">
            <a:alphaModFix/>
          </a:blip>
          <a:srcRect b="14588" l="0" r="15469" t="0"/>
          <a:stretch/>
        </p:blipFill>
        <p:spPr>
          <a:xfrm flipH="1">
            <a:off x="4571999" y="2061075"/>
            <a:ext cx="4572001" cy="30824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15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" name="Google Shape;225;p15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6" name="Google Shape;226;p15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7" name="Google Shape;227;p15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8" name="Google Shape;228;p15"/>
          <p:cNvSpPr txBox="1"/>
          <p:nvPr>
            <p:ph idx="4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9" name="Google Shape;229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0" name="Google Shape;230;p15"/>
          <p:cNvSpPr txBox="1"/>
          <p:nvPr>
            <p:ph idx="5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1" name="Google Shape;231;p15"/>
          <p:cNvSpPr txBox="1"/>
          <p:nvPr>
            <p:ph idx="6" type="body"/>
          </p:nvPr>
        </p:nvSpPr>
        <p:spPr>
          <a:xfrm>
            <a:off x="35522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2" name="Google Shape;232;p15"/>
          <p:cNvSpPr txBox="1"/>
          <p:nvPr>
            <p:ph idx="7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3" name="Google Shape;233;p15"/>
          <p:cNvSpPr txBox="1"/>
          <p:nvPr>
            <p:ph idx="8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4" name="Google Shape;234;p15"/>
          <p:cNvSpPr txBox="1"/>
          <p:nvPr>
            <p:ph idx="9" type="body"/>
          </p:nvPr>
        </p:nvSpPr>
        <p:spPr>
          <a:xfrm>
            <a:off x="2543875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5" name="Google Shape;235;p15"/>
          <p:cNvSpPr txBox="1"/>
          <p:nvPr>
            <p:ph idx="13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6" name="Google Shape;236;p15"/>
          <p:cNvSpPr txBox="1"/>
          <p:nvPr>
            <p:ph idx="14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7" name="Google Shape;237;p15"/>
          <p:cNvSpPr txBox="1"/>
          <p:nvPr>
            <p:ph idx="15" type="body"/>
          </p:nvPr>
        </p:nvSpPr>
        <p:spPr>
          <a:xfrm>
            <a:off x="4745400" y="2465025"/>
            <a:ext cx="18267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8" name="Google Shape;238;p15"/>
          <p:cNvSpPr txBox="1"/>
          <p:nvPr>
            <p:ph idx="16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39" name="Google Shape;239;p15"/>
          <p:cNvSpPr txBox="1"/>
          <p:nvPr>
            <p:ph idx="17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5"/>
          <p:cNvSpPr txBox="1"/>
          <p:nvPr>
            <p:ph idx="18" type="body"/>
          </p:nvPr>
        </p:nvSpPr>
        <p:spPr>
          <a:xfrm>
            <a:off x="6942300" y="2465025"/>
            <a:ext cx="1791600" cy="477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●"/>
              <a:defRPr sz="800">
                <a:solidFill>
                  <a:schemeClr val="dk2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○"/>
              <a:defRPr sz="800">
                <a:solidFill>
                  <a:schemeClr val="dk2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Urbanist"/>
              <a:buChar char="■"/>
              <a:defRPr sz="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1" name="Google Shape;241;p15"/>
          <p:cNvSpPr txBox="1"/>
          <p:nvPr>
            <p:ph idx="1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2" name="Google Shape;242;p15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15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46" name="Google Shape;246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7" name="Google Shape;247;p1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8" name="Google Shape;248;p16"/>
          <p:cNvSpPr txBox="1"/>
          <p:nvPr>
            <p:ph idx="3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49" name="Google Shape;249;p1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50" name="Google Shape;250;p16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252" name="Google Shape;252;p16"/>
          <p:cNvSpPr/>
          <p:nvPr>
            <p:ph idx="5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16"/>
          <p:cNvSpPr txBox="1"/>
          <p:nvPr>
            <p:ph idx="6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4" name="Google Shape;254;p16"/>
          <p:cNvSpPr txBox="1"/>
          <p:nvPr>
            <p:ph idx="7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3"/>
              </a:buClr>
              <a:buSzPts val="12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5" name="Google Shape;255;p16"/>
          <p:cNvSpPr txBox="1"/>
          <p:nvPr>
            <p:ph idx="8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6" name="Google Shape;256;p16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7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0" name="Google Shape;260;p17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17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62" name="Google Shape;262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5" name="Google Shape;265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6" name="Google Shape;266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7" name="Google Shape;267;p17"/>
          <p:cNvSpPr/>
          <p:nvPr>
            <p:ph idx="4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17"/>
          <p:cNvSpPr txBox="1"/>
          <p:nvPr>
            <p:ph idx="5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9" name="Google Shape;269;p17"/>
          <p:cNvSpPr txBox="1"/>
          <p:nvPr>
            <p:ph idx="6" type="body"/>
          </p:nvPr>
        </p:nvSpPr>
        <p:spPr>
          <a:xfrm>
            <a:off x="381950" y="2453500"/>
            <a:ext cx="17865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0" name="Google Shape;270;p17"/>
          <p:cNvSpPr txBox="1"/>
          <p:nvPr>
            <p:ph idx="7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1" name="Google Shape;271;p17"/>
          <p:cNvSpPr txBox="1"/>
          <p:nvPr>
            <p:ph idx="8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72" name="Google Shape;272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4" name="Google Shape;274;p17"/>
          <p:cNvSpPr txBox="1"/>
          <p:nvPr>
            <p:ph idx="9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75" name="Google Shape;275;p17"/>
          <p:cNvSpPr txBox="1"/>
          <p:nvPr>
            <p:ph idx="13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76" name="Google Shape;276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7" name="Google Shape;277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8" name="Google Shape;278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79" name="Google Shape;279;p17"/>
          <p:cNvSpPr txBox="1"/>
          <p:nvPr>
            <p:ph idx="14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0" name="Google Shape;280;p17"/>
          <p:cNvSpPr txBox="1"/>
          <p:nvPr>
            <p:ph idx="15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1" name="Google Shape;281;p17"/>
          <p:cNvSpPr txBox="1"/>
          <p:nvPr>
            <p:ph idx="16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2" name="Google Shape;282;p17"/>
          <p:cNvSpPr txBox="1"/>
          <p:nvPr>
            <p:ph idx="17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3" name="Google Shape;283;p17"/>
          <p:cNvSpPr txBox="1"/>
          <p:nvPr>
            <p:ph idx="18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4" name="Google Shape;284;p17"/>
          <p:cNvSpPr txBox="1"/>
          <p:nvPr>
            <p:ph idx="19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85" name="Google Shape;285;p17"/>
          <p:cNvSpPr txBox="1"/>
          <p:nvPr>
            <p:ph idx="20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6" name="Google Shape;286;p17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87" name="Google Shape;287;p17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/>
          <p:nvPr>
            <p:ph idx="1" type="body"/>
          </p:nvPr>
        </p:nvSpPr>
        <p:spPr>
          <a:xfrm>
            <a:off x="2054000" y="2952175"/>
            <a:ext cx="13776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90" name="Google Shape;290;p18"/>
          <p:cNvSpPr txBox="1"/>
          <p:nvPr>
            <p:ph idx="2" type="body"/>
          </p:nvPr>
        </p:nvSpPr>
        <p:spPr>
          <a:xfrm>
            <a:off x="2461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1" name="Google Shape;291;p18"/>
          <p:cNvSpPr txBox="1"/>
          <p:nvPr>
            <p:ph idx="3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92" name="Google Shape;292;p18"/>
          <p:cNvSpPr txBox="1"/>
          <p:nvPr>
            <p:ph idx="4" type="body"/>
          </p:nvPr>
        </p:nvSpPr>
        <p:spPr>
          <a:xfrm>
            <a:off x="3848250" y="2952163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3" name="Google Shape;293;p18"/>
          <p:cNvSpPr txBox="1"/>
          <p:nvPr>
            <p:ph idx="5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94" name="Google Shape;294;p18"/>
          <p:cNvSpPr txBox="1"/>
          <p:nvPr>
            <p:ph idx="6" type="body"/>
          </p:nvPr>
        </p:nvSpPr>
        <p:spPr>
          <a:xfrm>
            <a:off x="5634175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95" name="Google Shape;295;p18"/>
          <p:cNvSpPr txBox="1"/>
          <p:nvPr>
            <p:ph idx="7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18"/>
          <p:cNvSpPr txBox="1"/>
          <p:nvPr>
            <p:ph idx="8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18"/>
          <p:cNvSpPr txBox="1"/>
          <p:nvPr>
            <p:ph idx="9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298" name="Google Shape;298;p18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9" name="Google Shape;299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00" name="Google Shape;300;p18"/>
          <p:cNvSpPr txBox="1"/>
          <p:nvPr>
            <p:ph idx="1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1" name="Google Shape;301;p18"/>
          <p:cNvSpPr txBox="1"/>
          <p:nvPr>
            <p:ph idx="1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2" name="Google Shape;302;p18"/>
          <p:cNvSpPr txBox="1"/>
          <p:nvPr>
            <p:ph idx="1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3" name="Google Shape;303;p18"/>
          <p:cNvSpPr txBox="1"/>
          <p:nvPr>
            <p:ph idx="1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04" name="Google Shape;304;p18"/>
          <p:cNvSpPr txBox="1"/>
          <p:nvPr>
            <p:ph idx="1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18"/>
          <p:cNvSpPr txBox="1"/>
          <p:nvPr>
            <p:ph idx="1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6" name="Google Shape;306;p18"/>
          <p:cNvSpPr txBox="1"/>
          <p:nvPr>
            <p:ph idx="1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7" name="Google Shape;307;p18"/>
          <p:cNvSpPr txBox="1"/>
          <p:nvPr>
            <p:ph idx="20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308" name="Google Shape;308;p18"/>
          <p:cNvSpPr txBox="1"/>
          <p:nvPr>
            <p:ph idx="21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09" name="Google Shape;309;p18"/>
          <p:cNvSpPr txBox="1"/>
          <p:nvPr>
            <p:ph idx="22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0" name="Google Shape;310;p18"/>
          <p:cNvSpPr txBox="1"/>
          <p:nvPr>
            <p:ph idx="23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1" name="Google Shape;311;p18"/>
          <p:cNvSpPr txBox="1"/>
          <p:nvPr>
            <p:ph idx="24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2" name="Google Shape;312;p18"/>
          <p:cNvSpPr txBox="1"/>
          <p:nvPr>
            <p:ph idx="25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13" name="Google Shape;313;p18"/>
          <p:cNvSpPr txBox="1"/>
          <p:nvPr>
            <p:ph idx="26" type="body"/>
          </p:nvPr>
        </p:nvSpPr>
        <p:spPr>
          <a:xfrm>
            <a:off x="7450350" y="2952175"/>
            <a:ext cx="1458000" cy="81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314" name="Google Shape;314;p18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9"/>
          <p:cNvSpPr txBox="1"/>
          <p:nvPr>
            <p:ph idx="1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8" name="Google Shape;318;p19"/>
          <p:cNvSpPr txBox="1"/>
          <p:nvPr>
            <p:ph idx="2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9" name="Google Shape;319;p19"/>
          <p:cNvSpPr txBox="1"/>
          <p:nvPr>
            <p:ph idx="3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320" name="Google Shape;320;p19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1" name="Google Shape;321;p19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23" name="Google Shape;323;p19"/>
          <p:cNvSpPr txBox="1"/>
          <p:nvPr>
            <p:ph idx="4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5" name="Google Shape;325;p19"/>
          <p:cNvSpPr txBox="1"/>
          <p:nvPr>
            <p:ph idx="5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6" name="Google Shape;326;p19"/>
          <p:cNvSpPr txBox="1"/>
          <p:nvPr>
            <p:ph idx="6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27" name="Google Shape;327;p19"/>
          <p:cNvSpPr txBox="1"/>
          <p:nvPr>
            <p:ph idx="7" type="title"/>
          </p:nvPr>
        </p:nvSpPr>
        <p:spPr>
          <a:xfrm>
            <a:off x="3611850" y="1848195"/>
            <a:ext cx="1924200" cy="594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/>
            </a:lvl9pPr>
          </a:lstStyle>
          <a:p/>
        </p:txBody>
      </p:sp>
      <p:sp>
        <p:nvSpPr>
          <p:cNvPr id="328" name="Google Shape;328;p19"/>
          <p:cNvSpPr txBox="1"/>
          <p:nvPr>
            <p:ph idx="8" type="title"/>
          </p:nvPr>
        </p:nvSpPr>
        <p:spPr>
          <a:xfrm>
            <a:off x="3611850" y="3250202"/>
            <a:ext cx="1920300" cy="594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Font typeface="Urbanist"/>
              <a:buNone/>
              <a:defRPr sz="6200"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329" name="Google Shape;329;p19"/>
          <p:cNvSpPr txBox="1"/>
          <p:nvPr>
            <p:ph idx="9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0" name="Google Shape;330;p19"/>
          <p:cNvSpPr txBox="1"/>
          <p:nvPr>
            <p:ph idx="13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1" name="Google Shape;331;p19"/>
          <p:cNvSpPr txBox="1"/>
          <p:nvPr>
            <p:ph idx="14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32" name="Google Shape;332;p19"/>
          <p:cNvSpPr txBox="1"/>
          <p:nvPr>
            <p:ph idx="15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5" name="Google Shape;33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0" name="Google Shape;34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3" name="Google Shape;343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4" name="Google Shape;344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9" name="Google Shape;349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4" name="Google Shape;354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5" name="Google Shape;355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0" name="Google Shape;36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7" name="Google Shape;367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9" name="Google Shape;369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2" name="Google Shape;372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3" name="Google Shape;373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7" name="Google Shape;377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8" name="Google Shape;378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9" name="Google Shape;379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0" name="Google Shape;390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1" name="Google Shape;391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3" name="Google Shape;393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" name="Google Shape;394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5" name="Google Shape;395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0" name="Google Shape;400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6" name="Google Shape;40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7" name="Google Shape;40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1" name="Google Shape;411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6" name="Google Shape;4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7" name="Google Shape;4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0" name="Google Shape;430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85200"/>
            <a:ext cx="5236500" cy="10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 Medium"/>
              <a:buNone/>
              <a:defRPr sz="3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 sz="3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62525" y="1518250"/>
            <a:ext cx="3880800" cy="27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1"/>
          <p:cNvSpPr/>
          <p:nvPr/>
        </p:nvSpPr>
        <p:spPr>
          <a:xfrm>
            <a:off x="228600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8" name="Google Shape;438;p41"/>
          <p:cNvSpPr/>
          <p:nvPr/>
        </p:nvSpPr>
        <p:spPr>
          <a:xfrm>
            <a:off x="1719175" y="411337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9" name="Google Shape;439;p41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3000">
                <a:solidFill>
                  <a:schemeClr val="lt1"/>
                </a:solidFill>
              </a:rPr>
              <a:t>DoTA: Latent Distribution Conditioned Data Attribution for Diffusion Models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440" name="Google Shape;440;p41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Tata Consultancy Services</a:t>
            </a:r>
            <a:endParaRPr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  <p:sp>
        <p:nvSpPr>
          <p:cNvPr id="441" name="Google Shape;441;p4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442" name="Google Shape;442;p41"/>
          <p:cNvSpPr txBox="1"/>
          <p:nvPr>
            <p:ph idx="5" type="subTitle"/>
          </p:nvPr>
        </p:nvSpPr>
        <p:spPr>
          <a:xfrm>
            <a:off x="2970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Ninad</a:t>
            </a:r>
            <a:endParaRPr/>
          </a:p>
        </p:txBody>
      </p:sp>
      <p:sp>
        <p:nvSpPr>
          <p:cNvPr id="443" name="Google Shape;443;p41"/>
          <p:cNvSpPr txBox="1"/>
          <p:nvPr>
            <p:ph idx="6" type="subTitle"/>
          </p:nvPr>
        </p:nvSpPr>
        <p:spPr>
          <a:xfrm>
            <a:off x="1786375" y="417590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Vivek</a:t>
            </a:r>
            <a:endParaRPr/>
          </a:p>
        </p:txBody>
      </p:sp>
      <p:sp>
        <p:nvSpPr>
          <p:cNvPr id="444" name="Google Shape;444;p41"/>
          <p:cNvSpPr txBox="1"/>
          <p:nvPr>
            <p:ph idx="7" type="subTitle"/>
          </p:nvPr>
        </p:nvSpPr>
        <p:spPr>
          <a:xfrm>
            <a:off x="188850" y="2699685"/>
            <a:ext cx="5748900" cy="707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IEEE/CVF Winter Conference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 Applications of Computer Vision 2026</a:t>
            </a:r>
            <a:endParaRPr/>
          </a:p>
        </p:txBody>
      </p:sp>
      <p:sp>
        <p:nvSpPr>
          <p:cNvPr id="445" name="Google Shape;445;p41"/>
          <p:cNvSpPr txBox="1"/>
          <p:nvPr>
            <p:ph idx="8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</a:t>
            </a:r>
            <a:endParaRPr/>
          </a:p>
        </p:txBody>
      </p:sp>
      <p:sp>
        <p:nvSpPr>
          <p:cNvPr id="446" name="Google Shape;446;p41"/>
          <p:cNvSpPr/>
          <p:nvPr/>
        </p:nvSpPr>
        <p:spPr>
          <a:xfrm>
            <a:off x="3189236" y="4115515"/>
            <a:ext cx="1399200" cy="338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47" name="Google Shape;447;p41"/>
          <p:cNvSpPr txBox="1"/>
          <p:nvPr>
            <p:ph idx="6" type="subTitle"/>
          </p:nvPr>
        </p:nvSpPr>
        <p:spPr>
          <a:xfrm>
            <a:off x="3256436" y="4178040"/>
            <a:ext cx="1264800" cy="22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Shirish</a:t>
            </a:r>
            <a:endParaRPr/>
          </a:p>
        </p:txBody>
      </p:sp>
      <p:sp>
        <p:nvSpPr>
          <p:cNvPr id="448" name="Google Shape;448;p41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2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Problem Formulation: Data Attribution in Diffusion Models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4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455" name="Google Shape;455;p42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456" name="Google Shape;456;p42"/>
          <p:cNvSpPr txBox="1"/>
          <p:nvPr/>
        </p:nvSpPr>
        <p:spPr>
          <a:xfrm>
            <a:off x="228600" y="820650"/>
            <a:ext cx="8414700" cy="38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Given a generated image, which training samples influenced it?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Why it matters: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Legal transparency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Dataset auditing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Bias detection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Model debugging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Challenges faced while working with Diffusion Models?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 single forward pass decision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Multi-step denoising trajectory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Stochastic sampling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3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Existing Attribution Paradigms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4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463" name="Google Shape;463;p43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464" name="Google Shape;464;p43"/>
          <p:cNvSpPr txBox="1"/>
          <p:nvPr/>
        </p:nvSpPr>
        <p:spPr>
          <a:xfrm>
            <a:off x="228600" y="820650"/>
            <a:ext cx="8686800" cy="3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Training-Based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/ Model Dependent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Methods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Influence Function Approaches: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Loss-derivative–based influence estimation [1], [7], [8]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Retraining / Counterfactual Methods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Leave-one-out or upweighting via retraining [9], [19]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Diffusion-Specific Training-Time Methods: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Surrogate trajectory modeling [13]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Runtime attribution (Montrage) [14]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Gradient based methods:</a:t>
            </a:r>
            <a:endParaRPr b="1"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TRAK, DTRAK, JTRAK [10–12]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Shapley based Group attribution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		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Training-Free / Model-Agnostic Methods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Simila</a:t>
            </a: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rity-Based</a:t>
            </a: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Heuristics CLIP /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DINO v2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embedding similarity [20], [21]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44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Limitations of Existing Attribution Paradigms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0" name="Google Shape;470;p4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471" name="Google Shape;471;p44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472" name="Google Shape;472;p44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Scalability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Retraining and unlearning require repeated optimization.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Influence functions require Hessian inversion; unstable in deep non-convex models.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Architectural Dependence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Gradient / training-log access required (TRAK-style methods).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Runtime instrumentation tied to internal model execution.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Latent-trajectory methods restricted to specific diffusion architectures.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Fragility in Diffusion Settings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Stochastic denoising undermines gradient-linearity assumptions.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Classical convexity assumptions violated in deep diffusion models.	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Faithfulness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Similarity-based methods capture correlation, not causal influence.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Shapley utilities often rely on retraining or simplified surrogates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Absence of generic, free from model dependency method that can be scaled.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Mathematical </a:t>
            </a: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Prerequisites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78" name="Google Shape;478;p4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479" name="Google Shape;479;p45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480" name="Google Shape;480;p45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6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Proposed Framework: Distribution-Conditioned Attribution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86" name="Google Shape;486;p4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487" name="Google Shape;487;p46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488" name="Google Shape;488;p46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89" name="Google Shape;489;p46" title="DoTA_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325" y="820650"/>
            <a:ext cx="6081375" cy="3641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7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DoTA: Algorithm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95" name="Google Shape;495;p4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496" name="Google Shape;496;p47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497" name="Google Shape;497;p47"/>
          <p:cNvSpPr txBox="1"/>
          <p:nvPr/>
        </p:nvSpPr>
        <p:spPr>
          <a:xfrm>
            <a:off x="228600" y="820650"/>
            <a:ext cx="4836300" cy="37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Note that: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utilize dimensionality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reduction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approach such as PCA to reduce the dimension of the embeddings.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498" name="Google Shape;498;p47" title="Main_al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1412300"/>
            <a:ext cx="4686000" cy="21484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9" name="Google Shape;499;p47"/>
          <p:cNvGraphicFramePr/>
          <p:nvPr/>
        </p:nvGraphicFramePr>
        <p:xfrm>
          <a:off x="5350575" y="141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{1986DF76-634E-4074-8C73-C192E3C35F77}</a:tableStyleId>
              </a:tblPr>
              <a:tblGrid>
                <a:gridCol w="1569750"/>
                <a:gridCol w="1995075"/>
              </a:tblGrid>
              <a:tr h="4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Attribute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Representation Used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Semantics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CLIP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Structure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DINO v2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Style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Gram Matrix (VGG-19)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8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DoTA: Data Subset Selection and Search Space </a:t>
            </a: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Pruning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05" name="Google Shape;505;p48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506" name="Google Shape;506;p48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507" name="Google Shape;507;p48"/>
          <p:cNvSpPr txBox="1"/>
          <p:nvPr/>
        </p:nvSpPr>
        <p:spPr>
          <a:xfrm>
            <a:off x="228600" y="820650"/>
            <a:ext cx="46860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08" name="Google Shape;508;p48" title="Subset_sel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400" y="1015075"/>
            <a:ext cx="3924600" cy="2457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48" title="SS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8950" y="1023850"/>
            <a:ext cx="4202450" cy="24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49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DoTA: KernelSHAP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15" name="Google Shape;515;p49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516" name="Google Shape;516;p49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517" name="Google Shape;517;p49"/>
          <p:cNvSpPr txBox="1"/>
          <p:nvPr/>
        </p:nvSpPr>
        <p:spPr>
          <a:xfrm>
            <a:off x="228600" y="820650"/>
            <a:ext cx="46860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18" name="Google Shape;518;p49" title="KernelSH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625" y="882550"/>
            <a:ext cx="4631975" cy="3632075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9"/>
          <p:cNvSpPr txBox="1"/>
          <p:nvPr/>
        </p:nvSpPr>
        <p:spPr>
          <a:xfrm>
            <a:off x="5619700" y="940850"/>
            <a:ext cx="31209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DoTA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proposes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using Enegry Distance as utility function.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Avoids training.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Distribution-aware utility.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Ensures attribute specific utility.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0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Counterfactual Evaluation Protocol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25" name="Google Shape;525;p50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526" name="Google Shape;526;p50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527" name="Google Shape;527;p50"/>
          <p:cNvSpPr txBox="1"/>
          <p:nvPr/>
        </p:nvSpPr>
        <p:spPr>
          <a:xfrm>
            <a:off x="228600" y="820650"/>
            <a:ext cx="8604300" cy="3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conduct extensive experiments on the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proposed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approach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under two counterfactual setups: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b="1" lang="en" sz="1300">
                <a:solidFill>
                  <a:schemeClr val="lt1"/>
                </a:solidFill>
              </a:rPr>
              <a:t>Take-K</a:t>
            </a:r>
            <a:endParaRPr b="1" sz="1300">
              <a:solidFill>
                <a:schemeClr val="lt1"/>
              </a:solidFill>
            </a:endParaRPr>
          </a:p>
          <a:p>
            <a: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</a:pPr>
            <a:r>
              <a:rPr lang="en" sz="1100">
                <a:solidFill>
                  <a:schemeClr val="lt1"/>
                </a:solidFill>
              </a:rPr>
              <a:t>Train only on top K% attributed samples (taken K = 5)</a:t>
            </a:r>
            <a:br>
              <a:rPr lang="en" sz="1100">
                <a:solidFill>
                  <a:schemeClr val="lt1"/>
                </a:solidFill>
              </a:rPr>
            </a:br>
            <a:r>
              <a:rPr lang="en" sz="1100">
                <a:solidFill>
                  <a:schemeClr val="lt1"/>
                </a:solidFill>
              </a:rPr>
              <a:t> → Does model reconstruct style?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lang="en" sz="1300">
                <a:solidFill>
                  <a:schemeClr val="lt1"/>
                </a:solidFill>
              </a:rPr>
              <a:t>Leave-K</a:t>
            </a:r>
            <a:endParaRPr b="1" sz="1300">
              <a:solidFill>
                <a:schemeClr val="lt1"/>
              </a:solidFill>
            </a:endParaRPr>
          </a:p>
          <a:p>
            <a:pPr indent="-2984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</a:pPr>
            <a:r>
              <a:rPr lang="en" sz="1100">
                <a:solidFill>
                  <a:schemeClr val="lt1"/>
                </a:solidFill>
              </a:rPr>
              <a:t>Remove top </a:t>
            </a:r>
            <a:r>
              <a:rPr lang="en" sz="1100">
                <a:solidFill>
                  <a:schemeClr val="lt1"/>
                </a:solidFill>
              </a:rPr>
              <a:t>K% attributed samples (taken K = 5)</a:t>
            </a:r>
            <a:br>
              <a:rPr lang="en" sz="1100">
                <a:solidFill>
                  <a:schemeClr val="lt1"/>
                </a:solidFill>
              </a:rPr>
            </a:br>
            <a:r>
              <a:rPr lang="en" sz="1100">
                <a:solidFill>
                  <a:schemeClr val="lt1"/>
                </a:solidFill>
              </a:rPr>
              <a:t> → Does style confidence drop?</a:t>
            </a:r>
            <a:endParaRPr sz="11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employ a </a:t>
            </a:r>
            <a:r>
              <a:rPr b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multi-class style classifier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trained on multiple artistic styles as proposed in the UnlearnCanvas framework [].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➢"/>
            </a:pPr>
            <a:r>
              <a:rPr lang="en" sz="1100">
                <a:solidFill>
                  <a:schemeClr val="lt1"/>
                </a:solidFill>
              </a:rPr>
              <a:t>We define two metric based on the </a:t>
            </a:r>
            <a:r>
              <a:rPr lang="en" sz="1100">
                <a:solidFill>
                  <a:schemeClr val="lt1"/>
                </a:solidFill>
              </a:rPr>
              <a:t>classification</a:t>
            </a:r>
            <a:r>
              <a:rPr lang="en" sz="1100">
                <a:solidFill>
                  <a:schemeClr val="lt1"/>
                </a:solidFill>
              </a:rPr>
              <a:t> probability assigned by the </a:t>
            </a:r>
            <a:r>
              <a:rPr lang="en" sz="1100">
                <a:solidFill>
                  <a:schemeClr val="lt1"/>
                </a:solidFill>
              </a:rPr>
              <a:t>classifier</a:t>
            </a:r>
            <a:r>
              <a:rPr lang="en" sz="1100">
                <a:solidFill>
                  <a:schemeClr val="lt1"/>
                </a:solidFill>
              </a:rPr>
              <a:t>. </a:t>
            </a:r>
            <a:endParaRPr b="1" i="1" sz="11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i="1" lang="en" sz="1100">
                <a:solidFill>
                  <a:schemeClr val="lt1"/>
                </a:solidFill>
              </a:rPr>
              <a:t>Absolute Style Confidence (ASC) </a:t>
            </a:r>
            <a:r>
              <a:rPr lang="en" sz="1100">
                <a:solidFill>
                  <a:schemeClr val="lt1"/>
                </a:solidFill>
              </a:rPr>
              <a:t>: average </a:t>
            </a:r>
            <a:r>
              <a:rPr lang="en" sz="1100" u="sng">
                <a:solidFill>
                  <a:schemeClr val="lt1"/>
                </a:solidFill>
              </a:rPr>
              <a:t>classification probability</a:t>
            </a:r>
            <a:r>
              <a:rPr lang="en" sz="1100">
                <a:solidFill>
                  <a:schemeClr val="lt1"/>
                </a:solidFill>
              </a:rPr>
              <a:t> of the target style.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b="1" i="1" lang="en" sz="1100">
                <a:solidFill>
                  <a:schemeClr val="lt1"/>
                </a:solidFill>
              </a:rPr>
              <a:t>Relative Style Confidence (RSC) :</a:t>
            </a:r>
            <a:r>
              <a:rPr lang="en" sz="1100">
                <a:solidFill>
                  <a:schemeClr val="lt1"/>
                </a:solidFill>
              </a:rPr>
              <a:t> average of </a:t>
            </a:r>
            <a:r>
              <a:rPr lang="en" sz="1100" u="sng">
                <a:solidFill>
                  <a:schemeClr val="lt1"/>
                </a:solidFill>
              </a:rPr>
              <a:t>classification probability normalized by rank </a:t>
            </a:r>
            <a:r>
              <a:rPr lang="en" sz="1100">
                <a:solidFill>
                  <a:schemeClr val="lt1"/>
                </a:solidFill>
              </a:rPr>
              <a:t>of the target style.</a:t>
            </a:r>
            <a:endParaRPr sz="1100">
              <a:solidFill>
                <a:schemeClr val="lt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➢"/>
            </a:pPr>
            <a:r>
              <a:rPr b="1" lang="en" sz="1100">
                <a:solidFill>
                  <a:schemeClr val="lt1"/>
                </a:solidFill>
              </a:rPr>
              <a:t>Note that:</a:t>
            </a:r>
            <a:r>
              <a:rPr lang="en" sz="1100">
                <a:solidFill>
                  <a:schemeClr val="lt1"/>
                </a:solidFill>
              </a:rPr>
              <a:t> Ideal pattern for a effective attribution method must be that the ASC and RSC must go high for samples generated via model trained on Take-K. Likewise, it must go low for for samples generated via model trained on Leave-K.</a:t>
            </a:r>
            <a:endParaRPr sz="11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➢"/>
            </a:pPr>
            <a:r>
              <a:rPr lang="en" sz="1100">
                <a:solidFill>
                  <a:schemeClr val="lt1"/>
                </a:solidFill>
              </a:rPr>
              <a:t>We further evaluate </a:t>
            </a:r>
            <a:r>
              <a:rPr b="1" i="1" lang="en" sz="1100">
                <a:solidFill>
                  <a:schemeClr val="lt1"/>
                </a:solidFill>
              </a:rPr>
              <a:t>robustness under an adversarial attack setup</a:t>
            </a:r>
            <a:r>
              <a:rPr lang="en" sz="1100">
                <a:solidFill>
                  <a:schemeClr val="lt1"/>
                </a:solidFill>
              </a:rPr>
              <a:t> by injecting adversarial artworks into the attribution pool and measuring the stability of top-K influential samples and counterfactual retraining fidelity.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1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Experimental Setup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33" name="Google Shape;533;p51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534" name="Google Shape;534;p51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535" name="Google Shape;535;p51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perform Low-Rank Adaptation based fine-tuning of the Stable Diffusion XL model.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evaluated our approach on three datasets: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b="1"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PopArt (Wikiart):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1482 artworks.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b="1"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Ukiyo-e: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2000 artworks.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b="1" i="1"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Edvard Munch: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5891 artworks.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These datasets vary in scale and capture unique fine-grained artistic details, providing a robust testbed for attribution.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536" name="Google Shape;536;p51" title="teas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250" y="2629700"/>
            <a:ext cx="4256442" cy="2046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7" name="Google Shape;537;p51"/>
          <p:cNvGraphicFramePr/>
          <p:nvPr/>
        </p:nvGraphicFramePr>
        <p:xfrm>
          <a:off x="5223432" y="27646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{1986DF76-634E-4074-8C73-C192E3C35F77}</a:tableStyleId>
              </a:tblPr>
              <a:tblGrid>
                <a:gridCol w="1569750"/>
                <a:gridCol w="1995075"/>
              </a:tblGrid>
              <a:tr h="406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Attribute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lt1"/>
                          </a:solidFill>
                        </a:rPr>
                        <a:t>Representation Used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Semantics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CLIP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Structure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DINO v2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7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Style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lt1"/>
                          </a:solidFill>
                        </a:rPr>
                        <a:t>Gram Matrix (VGG-19)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2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Qualitative Results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43" name="Google Shape;543;p52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544" name="Google Shape;544;p52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545" name="Google Shape;545;p52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3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Quantitative Results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1" name="Google Shape;551;p53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552" name="Google Shape;552;p53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553" name="Google Shape;553;p53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4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59" name="Google Shape;559;p54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560" name="Google Shape;560;p54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561" name="Google Shape;561;p54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propose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the first latent distribution conditioned attribution for diffusion models.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We introduce an approach for Search space pruning via Energy Distance.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 generic </a:t>
            </a: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algorithm, which is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model agnostic, hence can be used in black-box setting.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scalable.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attribute of choice.</a:t>
            </a:r>
            <a:b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</a:b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➢"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Robust under adversarial settings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5"/>
          <p:cNvSpPr txBox="1"/>
          <p:nvPr/>
        </p:nvSpPr>
        <p:spPr>
          <a:xfrm>
            <a:off x="228600" y="228600"/>
            <a:ext cx="8686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References</a:t>
            </a:r>
            <a:endParaRPr b="1" sz="18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67" name="Google Shape;567;p55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568" name="Google Shape;568;p55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  <p:sp>
        <p:nvSpPr>
          <p:cNvPr id="569" name="Google Shape;569;p55"/>
          <p:cNvSpPr txBox="1"/>
          <p:nvPr/>
        </p:nvSpPr>
        <p:spPr>
          <a:xfrm>
            <a:off x="228600" y="820650"/>
            <a:ext cx="8414700" cy="3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[1] </a:t>
            </a:r>
            <a:endParaRPr sz="12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6"/>
          <p:cNvSpPr txBox="1"/>
          <p:nvPr>
            <p:ph idx="4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</a:t>
            </a:r>
            <a:endParaRPr/>
          </a:p>
        </p:txBody>
      </p:sp>
      <p:sp>
        <p:nvSpPr>
          <p:cNvPr id="575" name="Google Shape;575;p56"/>
          <p:cNvSpPr txBox="1"/>
          <p:nvPr>
            <p:ph type="title"/>
          </p:nvPr>
        </p:nvSpPr>
        <p:spPr>
          <a:xfrm>
            <a:off x="2744100" y="2165400"/>
            <a:ext cx="3655800" cy="81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76" name="Google Shape;576;p56"/>
          <p:cNvSpPr/>
          <p:nvPr/>
        </p:nvSpPr>
        <p:spPr>
          <a:xfrm>
            <a:off x="228600" y="3299625"/>
            <a:ext cx="84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6"/>
          <p:cNvSpPr txBox="1"/>
          <p:nvPr/>
        </p:nvSpPr>
        <p:spPr>
          <a:xfrm>
            <a:off x="6309300" y="3096325"/>
            <a:ext cx="2599200" cy="11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578" name="Google Shape;578;p56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Tata Consultancy Services</a:t>
            </a:r>
            <a:endParaRPr sz="1000"/>
          </a:p>
        </p:txBody>
      </p:sp>
      <p:sp>
        <p:nvSpPr>
          <p:cNvPr id="579" name="Google Shape;579;p56"/>
          <p:cNvSpPr txBox="1"/>
          <p:nvPr>
            <p:ph idx="2" type="subTitle"/>
          </p:nvPr>
        </p:nvSpPr>
        <p:spPr>
          <a:xfrm>
            <a:off x="4730699" y="4675975"/>
            <a:ext cx="2700000" cy="236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</a:rPr>
              <a:t>WACV 2026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FFFFFF"/>
      </a:lt1>
      <a:dk2>
        <a:srgbClr val="F5F5F5"/>
      </a:dk2>
      <a:lt2>
        <a:srgbClr val="323232"/>
      </a:lt2>
      <a:accent1>
        <a:srgbClr val="434343"/>
      </a:accent1>
      <a:accent2>
        <a:srgbClr val="252525"/>
      </a:accent2>
      <a:accent3>
        <a:srgbClr val="DEFF9A"/>
      </a:accent3>
      <a:accent4>
        <a:srgbClr val="DAFFDE"/>
      </a:accent4>
      <a:accent5>
        <a:srgbClr val="4CDC8B"/>
      </a:accent5>
      <a:accent6>
        <a:srgbClr val="4C7FDC"/>
      </a:accent6>
      <a:hlink>
        <a:srgbClr val="18181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